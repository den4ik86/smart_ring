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422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12939-CA93-45CC-9E12-50536DE9D95C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22DD7-4AC9-4BD9-9744-DC7CD4C428D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85729"/>
            <a:ext cx="9144000" cy="1571635"/>
          </a:xfrm>
        </p:spPr>
        <p:txBody>
          <a:bodyPr>
            <a:noAutofit/>
          </a:bodyPr>
          <a:lstStyle/>
          <a:p>
            <a:r>
              <a:rPr lang="ru-RU" sz="3600" dirty="0"/>
              <a:t>Разработка автоматизированной системы управления школьными звонками </a:t>
            </a:r>
            <a:r>
              <a:rPr lang="ru-RU" sz="3600" dirty="0" smtClean="0"/>
              <a:t>«Умный звонок»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2285992"/>
            <a:ext cx="9144000" cy="457200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Индивидуальный проект</a:t>
            </a:r>
          </a:p>
          <a:p>
            <a:pPr algn="l"/>
            <a:r>
              <a:rPr lang="ru-RU" b="1" dirty="0"/>
              <a:t>Автор:</a:t>
            </a:r>
            <a:r>
              <a:rPr lang="ru-RU" dirty="0"/>
              <a:t> </a:t>
            </a:r>
            <a:r>
              <a:rPr lang="ru-RU" dirty="0" err="1" smtClean="0"/>
              <a:t>Чувашов</a:t>
            </a:r>
            <a:r>
              <a:rPr lang="ru-RU" dirty="0" smtClean="0"/>
              <a:t> Денис Владимирович,11 </a:t>
            </a:r>
            <a:r>
              <a:rPr lang="ru-RU" dirty="0"/>
              <a:t>класс</a:t>
            </a:r>
          </a:p>
          <a:p>
            <a:pPr algn="l"/>
            <a:r>
              <a:rPr lang="ru-RU" b="1" dirty="0"/>
              <a:t>Руководитель:</a:t>
            </a:r>
            <a:r>
              <a:rPr lang="ru-RU" dirty="0"/>
              <a:t> </a:t>
            </a:r>
            <a:r>
              <a:rPr lang="ru-RU" dirty="0" smtClean="0"/>
              <a:t>Румянцев Владимир </a:t>
            </a:r>
            <a:r>
              <a:rPr lang="ru-RU" dirty="0" err="1" smtClean="0"/>
              <a:t>Алексанрович</a:t>
            </a:r>
            <a:endParaRPr lang="ru-RU" dirty="0" smtClean="0"/>
          </a:p>
          <a:p>
            <a:endParaRPr lang="ru-RU" dirty="0"/>
          </a:p>
          <a:p>
            <a:endParaRPr lang="ru-RU" dirty="0"/>
          </a:p>
          <a:p>
            <a:endParaRPr lang="ru-RU" b="1" dirty="0" smtClean="0"/>
          </a:p>
          <a:p>
            <a:endParaRPr lang="ru-RU" b="1" dirty="0" smtClean="0"/>
          </a:p>
          <a:p>
            <a:r>
              <a:rPr lang="ru-RU" b="1" dirty="0" smtClean="0"/>
              <a:t>Год</a:t>
            </a:r>
            <a:r>
              <a:rPr lang="ru-RU" b="1" dirty="0"/>
              <a:t>:</a:t>
            </a:r>
            <a:r>
              <a:rPr lang="ru-RU" dirty="0"/>
              <a:t> 2026</a:t>
            </a:r>
          </a:p>
          <a:p>
            <a:endParaRPr lang="ru-RU" dirty="0"/>
          </a:p>
        </p:txBody>
      </p:sp>
      <p:pic>
        <p:nvPicPr>
          <p:cNvPr id="4" name="Рисунок 3" descr="Логотип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7554" y="3929066"/>
            <a:ext cx="2428892" cy="22145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это важно?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>
                <a:solidFill>
                  <a:srgbClr val="C00000"/>
                </a:solidFill>
              </a:rPr>
              <a:t>❌</a:t>
            </a:r>
            <a:r>
              <a:rPr lang="ru-RU" dirty="0" smtClean="0"/>
              <a:t> </a:t>
            </a:r>
            <a:r>
              <a:rPr lang="ru-RU" dirty="0"/>
              <a:t>В большинстве школ звонки включают вручную</a:t>
            </a:r>
          </a:p>
          <a:p>
            <a:pPr>
              <a:buNone/>
            </a:pPr>
            <a:r>
              <a:rPr lang="ru-RU" dirty="0">
                <a:solidFill>
                  <a:srgbClr val="C00000"/>
                </a:solidFill>
              </a:rPr>
              <a:t>❌</a:t>
            </a:r>
            <a:r>
              <a:rPr lang="ru-RU" dirty="0"/>
              <a:t> Старые реле времени не привязаны к дням недели</a:t>
            </a:r>
          </a:p>
          <a:p>
            <a:pPr>
              <a:buNone/>
            </a:pPr>
            <a:r>
              <a:rPr lang="ru-RU" dirty="0">
                <a:solidFill>
                  <a:srgbClr val="C00000"/>
                </a:solidFill>
              </a:rPr>
              <a:t>❌</a:t>
            </a:r>
            <a:r>
              <a:rPr lang="ru-RU" dirty="0"/>
              <a:t> Нет голосового оповещения о начале/конце урока</a:t>
            </a:r>
          </a:p>
          <a:p>
            <a:pPr>
              <a:buNone/>
            </a:pPr>
            <a:r>
              <a:rPr lang="ru-RU" dirty="0">
                <a:solidFill>
                  <a:srgbClr val="C00000"/>
                </a:solidFill>
              </a:rPr>
              <a:t>❌</a:t>
            </a:r>
            <a:r>
              <a:rPr lang="ru-RU" dirty="0"/>
              <a:t> Нет музыки на переменах</a:t>
            </a:r>
          </a:p>
          <a:p>
            <a:pPr>
              <a:buNone/>
            </a:pPr>
            <a:r>
              <a:rPr lang="ru-RU" dirty="0">
                <a:solidFill>
                  <a:srgbClr val="C00000"/>
                </a:solidFill>
              </a:rPr>
              <a:t>❌</a:t>
            </a:r>
            <a:r>
              <a:rPr lang="ru-RU" dirty="0"/>
              <a:t> Готовые решения дороги </a:t>
            </a:r>
            <a:r>
              <a:rPr lang="ru-RU" dirty="0" smtClean="0"/>
              <a:t>(20 </a:t>
            </a:r>
            <a:r>
              <a:rPr lang="ru-RU" dirty="0"/>
              <a:t>000 – 30 000 ₽)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b="1" dirty="0"/>
              <a:t>Цель:</a:t>
            </a:r>
            <a:r>
              <a:rPr lang="ru-RU" sz="2800" dirty="0"/>
              <a:t> Создать доступную автоматизированную систему управления школьными </a:t>
            </a:r>
            <a:r>
              <a:rPr lang="ru-RU" sz="2800" dirty="0" smtClean="0"/>
              <a:t>звонками</a:t>
            </a:r>
          </a:p>
          <a:p>
            <a:pPr>
              <a:buNone/>
            </a:pPr>
            <a:r>
              <a:rPr lang="ru-RU" sz="2800" b="1" dirty="0" smtClean="0"/>
              <a:t>Задачи:</a:t>
            </a:r>
            <a:endParaRPr lang="ru-RU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Изучить существующие решения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Выбрать компоненты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Разработать схему подключения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Написать программу для ESP32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Создать </a:t>
            </a:r>
            <a:r>
              <a:rPr lang="ru-RU" sz="2800" dirty="0" err="1"/>
              <a:t>веб-интерфейс</a:t>
            </a:r>
            <a:endParaRPr lang="ru-RU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Протестировать систему</a:t>
            </a:r>
          </a:p>
          <a:p>
            <a:pPr marL="514350" indent="-514350">
              <a:buFont typeface="+mj-lt"/>
              <a:buAutoNum type="arabicPeriod"/>
            </a:pPr>
            <a:endParaRPr lang="ru-RU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Аппаратная платформа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0" y="1928802"/>
          <a:ext cx="9144000" cy="4758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71868"/>
                <a:gridCol w="2071702"/>
                <a:gridCol w="3500430"/>
              </a:tblGrid>
              <a:tr h="762648">
                <a:tc>
                  <a:txBody>
                    <a:bodyPr/>
                    <a:lstStyle/>
                    <a:p>
                      <a:pPr algn="ctr"/>
                      <a:r>
                        <a:rPr lang="ru-RU" sz="3200" b="0" i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Компонент</a:t>
                      </a:r>
                      <a:r>
                        <a:rPr lang="ru-RU" sz="3200" kern="12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800" kern="1200" dirty="0" smtClean="0"/>
                        <a:t>         </a:t>
                      </a:r>
                      <a:r>
                        <a:rPr lang="ru-RU" sz="2800" kern="1200" dirty="0" smtClean="0"/>
                        <a:t> 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Модель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Назначение</a:t>
                      </a:r>
                      <a:endParaRPr lang="ru-RU" sz="3200" dirty="0"/>
                    </a:p>
                  </a:txBody>
                  <a:tcPr/>
                </a:tc>
              </a:tr>
              <a:tr h="762648"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>
                          <a:latin typeface="quote-cjk-patch"/>
                        </a:rPr>
                        <a:t>Микроконтроллер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quote-cjk-patch"/>
                        </a:rPr>
                        <a:t>ESP32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dirty="0">
                          <a:latin typeface="quote-cjk-patch"/>
                        </a:rPr>
                        <a:t>Управление, </a:t>
                      </a:r>
                      <a:r>
                        <a:rPr lang="en-US" sz="2400" b="0" dirty="0">
                          <a:latin typeface="quote-cjk-patch"/>
                        </a:rPr>
                        <a:t>Wi-Fi</a:t>
                      </a:r>
                    </a:p>
                  </a:txBody>
                  <a:tcPr marL="152400" marT="95250" marB="95250" anchor="ctr"/>
                </a:tc>
              </a:tr>
              <a:tr h="922615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/>
                        <a:t>Часы реального времени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quote-cjk-patch"/>
                        </a:rPr>
                        <a:t>DS1307</a:t>
                      </a:r>
                      <a:endParaRPr lang="en-US" sz="2400" b="0" dirty="0"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>
                          <a:latin typeface="quote-cjk-patch"/>
                        </a:rPr>
                        <a:t>Точное время</a:t>
                      </a:r>
                    </a:p>
                  </a:txBody>
                  <a:tcPr marL="152400" marT="95250" marB="95250" anchor="ctr"/>
                </a:tc>
              </a:tr>
              <a:tr h="7626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800" dirty="0" smtClean="0"/>
                        <a:t>ЦАП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MAX98357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Звук (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I2S)</a:t>
                      </a:r>
                      <a:endParaRPr lang="ru-RU" sz="2800" dirty="0" smtClean="0"/>
                    </a:p>
                  </a:txBody>
                  <a:tcPr marR="152400" marT="95250" marB="95250" anchor="ctr"/>
                </a:tc>
              </a:tr>
              <a:tr h="7626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SD-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карта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 ГБ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Хранение 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MP3</a:t>
                      </a:r>
                      <a:endParaRPr lang="ru-RU" sz="2800" dirty="0"/>
                    </a:p>
                  </a:txBody>
                  <a:tcPr/>
                </a:tc>
              </a:tr>
              <a:tr h="7626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Реле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SRD-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VDC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Управление звонком</a:t>
                      </a:r>
                      <a:endParaRPr lang="ru-RU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ru-RU" dirty="0" smtClean="0"/>
              <a:t>Принципиальная схема прибора</a:t>
            </a:r>
            <a:endParaRPr lang="ru-RU" dirty="0"/>
          </a:p>
        </p:txBody>
      </p:sp>
      <p:pic>
        <p:nvPicPr>
          <p:cNvPr id="4" name="Содержимое 3" descr="Schematic_SchoolRing_Base_shield_2026-04-21.png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71546"/>
            <a:ext cx="9144000" cy="61865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ru-RU" dirty="0"/>
              <a:t>Как это работает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1857364"/>
            <a:ext cx="7029450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Подключение компонентов к </a:t>
            </a:r>
            <a:r>
              <a:rPr lang="en-US" dirty="0" smtClean="0"/>
              <a:t>ESP32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85720" y="1234091"/>
          <a:ext cx="8501121" cy="5299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707"/>
                <a:gridCol w="2833707"/>
                <a:gridCol w="2833707"/>
              </a:tblGrid>
              <a:tr h="579773"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 err="1">
                          <a:latin typeface="quote-cjk-patch"/>
                        </a:rPr>
                        <a:t>Пин</a:t>
                      </a:r>
                      <a:r>
                        <a:rPr lang="ru-RU" sz="2400" b="0" dirty="0">
                          <a:latin typeface="quote-cjk-patch"/>
                        </a:rPr>
                        <a:t> </a:t>
                      </a:r>
                      <a:r>
                        <a:rPr lang="en-US" sz="2400" b="0" dirty="0">
                          <a:latin typeface="quote-cjk-patch"/>
                        </a:rPr>
                        <a:t>ESP32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latin typeface="quote-cjk-patch"/>
                        </a:rPr>
                        <a:t>Компонент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>
                          <a:latin typeface="quote-cjk-patch"/>
                        </a:rPr>
                        <a:t>Назначение</a:t>
                      </a:r>
                    </a:p>
                  </a:txBody>
                  <a:tcPr marL="152400" marR="152400" marT="95250" marB="95250" anchor="ctr"/>
                </a:tc>
              </a:tr>
              <a:tr h="579773">
                <a:tc>
                  <a:txBody>
                    <a:bodyPr/>
                    <a:lstStyle/>
                    <a:p>
                      <a:r>
                        <a:rPr lang="ru-RU" sz="2400" b="0" dirty="0">
                          <a:latin typeface="quote-cjk-patch"/>
                        </a:rPr>
                        <a:t>15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Реле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Звонок</a:t>
                      </a:r>
                    </a:p>
                  </a:txBody>
                  <a:tcPr marL="152400" marT="95250" marB="95250" anchor="ctr"/>
                </a:tc>
              </a:tr>
              <a:tr h="579773">
                <a:tc>
                  <a:txBody>
                    <a:bodyPr/>
                    <a:lstStyle/>
                    <a:p>
                      <a:r>
                        <a:rPr lang="ru-RU" sz="2400" b="0" dirty="0">
                          <a:latin typeface="quote-cjk-patch"/>
                        </a:rPr>
                        <a:t>33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Кнопка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Пожар</a:t>
                      </a:r>
                    </a:p>
                  </a:txBody>
                  <a:tcPr marL="152400" marT="95250" marB="95250" anchor="ctr"/>
                </a:tc>
              </a:tr>
              <a:tr h="579773">
                <a:tc>
                  <a:txBody>
                    <a:bodyPr/>
                    <a:lstStyle/>
                    <a:p>
                      <a:r>
                        <a:rPr lang="ru-RU" sz="2400" b="0" dirty="0">
                          <a:latin typeface="quote-cjk-patch"/>
                        </a:rPr>
                        <a:t>32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Кнопка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Террор</a:t>
                      </a:r>
                    </a:p>
                  </a:txBody>
                  <a:tcPr marL="152400" marT="95250" marB="95250" anchor="ctr"/>
                </a:tc>
              </a:tr>
              <a:tr h="579773">
                <a:tc>
                  <a:txBody>
                    <a:bodyPr/>
                    <a:lstStyle/>
                    <a:p>
                      <a:r>
                        <a:rPr lang="ru-RU" sz="2400" b="0" dirty="0">
                          <a:latin typeface="quote-cjk-patch"/>
                        </a:rPr>
                        <a:t>2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Светодиод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Индикация пожара</a:t>
                      </a:r>
                    </a:p>
                  </a:txBody>
                  <a:tcPr marL="152400" marT="95250" marB="95250" anchor="ctr"/>
                </a:tc>
              </a:tr>
              <a:tr h="847921"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latin typeface="quote-cjk-patch"/>
                        </a:rPr>
                        <a:t>Светодиод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Индикация террора</a:t>
                      </a:r>
                    </a:p>
                  </a:txBody>
                  <a:tcPr marL="152400" marT="95250" marB="95250" anchor="ctr"/>
                </a:tc>
              </a:tr>
              <a:tr h="579773"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27/26/25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quote-cjk-patch"/>
                        </a:rPr>
                        <a:t>I2S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latin typeface="quote-cjk-patch"/>
                        </a:rPr>
                        <a:t>Аудио</a:t>
                      </a:r>
                    </a:p>
                  </a:txBody>
                  <a:tcPr marL="152400" marT="95250" marB="95250" anchor="ctr"/>
                </a:tc>
              </a:tr>
              <a:tr h="511556">
                <a:tc>
                  <a:txBody>
                    <a:bodyPr/>
                    <a:lstStyle/>
                    <a:p>
                      <a:r>
                        <a:rPr lang="ru-RU" sz="2400" b="0">
                          <a:latin typeface="quote-cjk-patch"/>
                        </a:rPr>
                        <a:t>18/19/23/5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latin typeface="quote-cjk-patch"/>
                        </a:rPr>
                        <a:t>SPI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quote-cjk-patch"/>
                        </a:rPr>
                        <a:t>SD-</a:t>
                      </a:r>
                      <a:r>
                        <a:rPr lang="ru-RU" sz="2400" b="0" dirty="0">
                          <a:latin typeface="quote-cjk-patch"/>
                        </a:rPr>
                        <a:t>карта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умеет «Умный звонок»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600200"/>
            <a:ext cx="8501122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🔔    Автоматические звонки по расписанию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📅 7 профили (по дням недели)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🎤    Голосовое оповещение (начало/конец урока)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🎵    Музыка на переменах (2 режима)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🚨    Пожарная и террористическая тревога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🌐    </a:t>
            </a:r>
            <a:r>
              <a:rPr lang="ru-RU" dirty="0" err="1" smtClean="0"/>
              <a:t>Веб-управление</a:t>
            </a:r>
            <a:r>
              <a:rPr lang="ru-RU" dirty="0" smtClean="0"/>
              <a:t> с телефона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📁    Загрузка MP3 через браузер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через браузер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Расписание звонков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Подсветка идущего урока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Вкл</a:t>
            </a:r>
            <a:r>
              <a:rPr lang="ru-RU" dirty="0" smtClean="0"/>
              <a:t>/</a:t>
            </a:r>
            <a:r>
              <a:rPr lang="ru-RU" dirty="0" err="1" smtClean="0"/>
              <a:t>Выкл</a:t>
            </a:r>
            <a:r>
              <a:rPr lang="ru-RU" dirty="0" smtClean="0"/>
              <a:t> музыки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Выбор режима воспроизведения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Веб</a:t>
            </a:r>
            <a:r>
              <a:rPr lang="ru-RU" dirty="0" smtClean="0"/>
              <a:t> интерфейс</a:t>
            </a:r>
            <a:endParaRPr lang="ru-RU" dirty="0"/>
          </a:p>
        </p:txBody>
      </p:sp>
      <p:pic>
        <p:nvPicPr>
          <p:cNvPr id="4" name="Содержимое 3" descr="Screenshot_20260417_07394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00166" y="1357298"/>
            <a:ext cx="6143668" cy="52578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Screenshot_20260417_07402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71670" y="214290"/>
            <a:ext cx="5286412" cy="628654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Screenshot_20260417_07410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643174" y="428604"/>
            <a:ext cx="4120402" cy="6143668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Screenshot_20260417_07551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5984" y="500042"/>
            <a:ext cx="4466303" cy="5768975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3" descr="Screenshot_20260417_07545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71736" y="214290"/>
            <a:ext cx="4214842" cy="6295062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Все тесты пройдены успешно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✅ Звонки по расписанию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✅ Голосовое оповещение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✅ Музыка на переменах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✅ Переключение профилей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✅ Пожарная тревога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✅ Террористическая тревога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✅ </a:t>
            </a:r>
            <a:r>
              <a:rPr lang="ru-RU" dirty="0" err="1" smtClean="0"/>
              <a:t>Веб-управление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✅ Загрузка MP3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Почему «Умный звонок»лучше?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💰    </a:t>
            </a:r>
            <a:r>
              <a:rPr lang="ru-RU" b="1" dirty="0" smtClean="0"/>
              <a:t>Низкая стоимость</a:t>
            </a:r>
            <a:r>
              <a:rPr lang="ru-RU" dirty="0" smtClean="0"/>
              <a:t> — 10000₽ (доступно любой школе)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🎤    </a:t>
            </a:r>
            <a:r>
              <a:rPr lang="ru-RU" b="1" dirty="0" smtClean="0"/>
              <a:t>Голосовое оповещение</a:t>
            </a:r>
            <a:r>
              <a:rPr lang="ru-RU" dirty="0" smtClean="0"/>
              <a:t> — начало и конец урока озвучивается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🎵    </a:t>
            </a:r>
            <a:r>
              <a:rPr lang="ru-RU" b="1" dirty="0" smtClean="0"/>
              <a:t>Музыка на переменах</a:t>
            </a:r>
            <a:r>
              <a:rPr lang="ru-RU" dirty="0" smtClean="0"/>
              <a:t> — 2 режима воспроизведения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📅    </a:t>
            </a:r>
            <a:r>
              <a:rPr lang="ru-RU" b="1" dirty="0" smtClean="0"/>
              <a:t>Гибкое расписание</a:t>
            </a:r>
            <a:r>
              <a:rPr lang="ru-RU" dirty="0" smtClean="0"/>
              <a:t> — 7 профилей по дням недели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🌐    </a:t>
            </a:r>
            <a:r>
              <a:rPr lang="ru-RU" b="1" dirty="0" smtClean="0"/>
              <a:t>Простая настройка</a:t>
            </a:r>
            <a:r>
              <a:rPr lang="ru-RU" dirty="0" smtClean="0"/>
              <a:t> — </a:t>
            </a:r>
            <a:r>
              <a:rPr lang="ru-RU" dirty="0" err="1" smtClean="0"/>
              <a:t>веб-интерфейс</a:t>
            </a:r>
            <a:r>
              <a:rPr lang="ru-RU" dirty="0" smtClean="0"/>
              <a:t> для управления с телефона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🚨    </a:t>
            </a:r>
            <a:r>
              <a:rPr lang="ru-RU" b="1" dirty="0" smtClean="0"/>
              <a:t>Экстренные тревоги</a:t>
            </a:r>
            <a:r>
              <a:rPr lang="ru-RU" dirty="0" smtClean="0"/>
              <a:t> — пожар и террор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работы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71472" y="2071678"/>
            <a:ext cx="8229600" cy="285752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✅ Цель достигнута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✅ Все задачи выполнены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✅ Устройство работает стабильно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✅ Готово к внедрению в школу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714356"/>
            <a:ext cx="3429024" cy="1643066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Подключение к устройству</a:t>
            </a:r>
            <a:endParaRPr lang="ru-RU" sz="3600" dirty="0"/>
          </a:p>
        </p:txBody>
      </p:sp>
      <p:pic>
        <p:nvPicPr>
          <p:cNvPr id="4" name="Содержимое 3" descr="qrcode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42976" y="2357430"/>
            <a:ext cx="3000396" cy="2928958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4857752" y="785794"/>
            <a:ext cx="3429024" cy="142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Больше</a:t>
            </a:r>
            <a:r>
              <a:rPr kumimoji="0" lang="ru-RU" sz="3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проектов на моём 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GitHub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Содержимое 3" descr="qrcode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43504" y="2357430"/>
            <a:ext cx="3000396" cy="2928958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928662" y="5214950"/>
            <a:ext cx="7715304" cy="142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Спасибо за внимание!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266</Words>
  <Application>Microsoft Office PowerPoint</Application>
  <PresentationFormat>Экран (4:3)</PresentationFormat>
  <Paragraphs>109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 Office</vt:lpstr>
      <vt:lpstr>Разработка автоматизированной системы управления школьными звонками «Умный звонок»</vt:lpstr>
      <vt:lpstr>Почему это важно?</vt:lpstr>
      <vt:lpstr>Цель и задачи проекта</vt:lpstr>
      <vt:lpstr>Аппаратная платформа</vt:lpstr>
      <vt:lpstr>Принципиальная схема прибора</vt:lpstr>
      <vt:lpstr>Как это работает</vt:lpstr>
      <vt:lpstr>Подключение компонентов к ESP32</vt:lpstr>
      <vt:lpstr>Что умеет «Умный звонок»?</vt:lpstr>
      <vt:lpstr>Управление через браузер</vt:lpstr>
      <vt:lpstr>Веб интерфейс</vt:lpstr>
      <vt:lpstr>Слайд 11</vt:lpstr>
      <vt:lpstr>Слайд 12</vt:lpstr>
      <vt:lpstr>Слайд 13</vt:lpstr>
      <vt:lpstr>Слайд 14</vt:lpstr>
      <vt:lpstr>Все тесты пройдены успешно</vt:lpstr>
      <vt:lpstr>Почему «Умный звонок»лучше?</vt:lpstr>
      <vt:lpstr>Результаты работы</vt:lpstr>
      <vt:lpstr>Подключение к устройству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автоматизированной системы управления школьными звонками «Smart Ring»</dc:title>
  <dc:creator>Denis</dc:creator>
  <cp:lastModifiedBy>Denis</cp:lastModifiedBy>
  <cp:revision>67</cp:revision>
  <dcterms:created xsi:type="dcterms:W3CDTF">2026-04-10T17:06:47Z</dcterms:created>
  <dcterms:modified xsi:type="dcterms:W3CDTF">2026-05-05T16:23:12Z</dcterms:modified>
</cp:coreProperties>
</file>